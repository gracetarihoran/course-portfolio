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9" r:id="rId1"/>
  </p:sldMasterIdLst>
  <p:sldIdLst>
    <p:sldId id="256" r:id="rId2"/>
    <p:sldId id="257" r:id="rId3"/>
    <p:sldId id="258" r:id="rId4"/>
    <p:sldId id="259" r:id="rId5"/>
    <p:sldId id="273" r:id="rId6"/>
    <p:sldId id="270" r:id="rId7"/>
    <p:sldId id="271" r:id="rId8"/>
    <p:sldId id="267" r:id="rId9"/>
    <p:sldId id="274" r:id="rId10"/>
    <p:sldId id="268" r:id="rId11"/>
    <p:sldId id="275" r:id="rId12"/>
    <p:sldId id="269" r:id="rId13"/>
    <p:sldId id="260" r:id="rId14"/>
    <p:sldId id="261" r:id="rId15"/>
    <p:sldId id="262" r:id="rId16"/>
    <p:sldId id="263" r:id="rId17"/>
    <p:sldId id="264" r:id="rId18"/>
    <p:sldId id="265" r:id="rId19"/>
    <p:sldId id="272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2862" y="7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030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876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5037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482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60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8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1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1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57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6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877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98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7200" dirty="0"/>
              <a:t>COVID-19 Analysis in EU/EEA Countries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7898" y="4455621"/>
            <a:ext cx="7543800" cy="1143000"/>
          </a:xfrm>
        </p:spPr>
        <p:txBody>
          <a:bodyPr>
            <a:normAutofit fontScale="85000" lnSpcReduction="20000"/>
          </a:bodyPr>
          <a:lstStyle/>
          <a:p>
            <a:r>
              <a:t>DV1597 Assignment 2</a:t>
            </a:r>
          </a:p>
          <a:p>
            <a:r>
              <a:t>Group 9</a:t>
            </a:r>
          </a:p>
          <a:p>
            <a:r>
              <a:t>Grace Dona Harlita Tarihoran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7675" indent="-355600">
              <a:buFont typeface="Wingdings" panose="05000000000000000000" pitchFamily="2" charset="2"/>
              <a:buChar char="ü"/>
            </a:pPr>
            <a:r>
              <a:rPr dirty="0"/>
              <a:t>Analyzed COVID-19 cases, deaths, vaccination, and healthcare burden in EU/EEA countries.</a:t>
            </a:r>
          </a:p>
          <a:p>
            <a:pPr marL="447675" indent="-355600">
              <a:buFont typeface="Wingdings" panose="05000000000000000000" pitchFamily="2" charset="2"/>
              <a:buChar char="ü"/>
            </a:pPr>
            <a:r>
              <a:rPr dirty="0"/>
              <a:t>Datasets obtained from ECDC.</a:t>
            </a:r>
            <a:endParaRPr lang="en-US" dirty="0"/>
          </a:p>
          <a:p>
            <a:pPr marL="447675" indent="-355600">
              <a:buFont typeface="Wingdings" panose="05000000000000000000" pitchFamily="2" charset="2"/>
              <a:buChar char="ü"/>
            </a:pPr>
            <a:r>
              <a:rPr lang="en-ID" dirty="0"/>
              <a:t>Tools  : Pandas, </a:t>
            </a:r>
            <a:r>
              <a:rPr lang="en-ID" dirty="0" err="1"/>
              <a:t>Numpy</a:t>
            </a:r>
            <a:r>
              <a:rPr lang="en-ID" dirty="0"/>
              <a:t>, Plotly, Matplotlib, Seaborn</a:t>
            </a:r>
            <a:endParaRPr dirty="0"/>
          </a:p>
          <a:p>
            <a:pPr marL="447675" indent="-355600">
              <a:buFont typeface="Wingdings" panose="05000000000000000000" pitchFamily="2" charset="2"/>
              <a:buChar char="ü"/>
            </a:pPr>
            <a:r>
              <a:rPr dirty="0"/>
              <a:t>Goal</a:t>
            </a:r>
            <a:r>
              <a:rPr lang="en-US" dirty="0"/>
              <a:t>   </a:t>
            </a:r>
            <a:r>
              <a:rPr dirty="0"/>
              <a:t>: identify patterns and healthcare impacts during the pandemic.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Datasets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7188" indent="-357188">
              <a:buFont typeface="+mj-lt"/>
              <a:buAutoNum type="arabicPeriod"/>
            </a:pPr>
            <a:r>
              <a:rPr dirty="0"/>
              <a:t>Cases and deaths dataset</a:t>
            </a:r>
          </a:p>
          <a:p>
            <a:pPr marL="357188" indent="-357188">
              <a:buFont typeface="+mj-lt"/>
              <a:buAutoNum type="arabicPeriod"/>
            </a:pPr>
            <a:r>
              <a:rPr dirty="0"/>
              <a:t>Vaccination dataset</a:t>
            </a:r>
          </a:p>
          <a:p>
            <a:pPr marL="357188" indent="-357188">
              <a:buFont typeface="+mj-lt"/>
              <a:buAutoNum type="arabicPeriod"/>
            </a:pPr>
            <a:r>
              <a:rPr dirty="0"/>
              <a:t>Hospital and ICU dataset</a:t>
            </a:r>
            <a:endParaRPr lang="en-US" dirty="0"/>
          </a:p>
          <a:p>
            <a:pPr marL="0" indent="0">
              <a:buNone/>
            </a:pPr>
            <a:r>
              <a:rPr lang="en-ID" dirty="0"/>
              <a:t>      </a:t>
            </a:r>
            <a:r>
              <a:rPr dirty="0"/>
              <a:t>Period:</a:t>
            </a:r>
            <a:r>
              <a:rPr lang="en-US" dirty="0"/>
              <a:t> 2020–2023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dirty="0"/>
              <a:t>Handled missing and negative values.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Created year, quarter, and week variables.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Calculated population-normalized rates.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Created grouped summary tables.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6FF8D-8A63-3C56-16E3-CC49161BF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Handled missing and negative values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85E647-83A6-2082-658C-94D6F59BA3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5051347"/>
              </p:ext>
            </p:extLst>
          </p:nvPr>
        </p:nvGraphicFramePr>
        <p:xfrm>
          <a:off x="939800" y="1846263"/>
          <a:ext cx="7721600" cy="4267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306">
                  <a:extLst>
                    <a:ext uri="{9D8B030D-6E8A-4147-A177-3AD203B41FA5}">
                      <a16:colId xmlns:a16="http://schemas.microsoft.com/office/drawing/2014/main" val="2443919465"/>
                    </a:ext>
                  </a:extLst>
                </a:gridCol>
                <a:gridCol w="3485427">
                  <a:extLst>
                    <a:ext uri="{9D8B030D-6E8A-4147-A177-3AD203B41FA5}">
                      <a16:colId xmlns:a16="http://schemas.microsoft.com/office/drawing/2014/main" val="4293735008"/>
                    </a:ext>
                  </a:extLst>
                </a:gridCol>
                <a:gridCol w="2573867">
                  <a:extLst>
                    <a:ext uri="{9D8B030D-6E8A-4147-A177-3AD203B41FA5}">
                      <a16:colId xmlns:a16="http://schemas.microsoft.com/office/drawing/2014/main" val="1878346692"/>
                    </a:ext>
                  </a:extLst>
                </a:gridCol>
              </a:tblGrid>
              <a:tr h="341102">
                <a:tc>
                  <a:txBody>
                    <a:bodyPr/>
                    <a:lstStyle/>
                    <a:p>
                      <a:r>
                        <a:rPr lang="en-US" sz="1400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Finding in 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108994"/>
                  </a:ext>
                </a:extLst>
              </a:tr>
              <a:tr h="1114508">
                <a:tc>
                  <a:txBody>
                    <a:bodyPr/>
                    <a:lstStyle/>
                    <a:p>
                      <a:r>
                        <a:rPr lang="en-US" sz="1400" dirty="0"/>
                        <a:t>Cases and Deaths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400" dirty="0"/>
                        <a:t>Negative values in cases and deaths column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400" dirty="0"/>
                        <a:t>cases contains 93 (0.3%) missing values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400" dirty="0"/>
                        <a:t>deaths contains 292 (1%) missing values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400" dirty="0"/>
                        <a:t>Convert negative values to </a:t>
                      </a:r>
                      <a:r>
                        <a:rPr lang="en-US" sz="1400" dirty="0" err="1"/>
                        <a:t>NaN</a:t>
                      </a:r>
                      <a:endParaRPr lang="en-US" sz="1400" dirty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400" dirty="0"/>
                        <a:t>Convert dates and sort chronologically 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400" dirty="0"/>
                        <a:t>Country-Level Grouping 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400" dirty="0"/>
                        <a:t>Apply Grouped Linear Interpolation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125543"/>
                  </a:ext>
                </a:extLst>
              </a:tr>
              <a:tr h="1823295">
                <a:tc>
                  <a:txBody>
                    <a:bodyPr/>
                    <a:lstStyle/>
                    <a:p>
                      <a:r>
                        <a:rPr lang="en-US" sz="1400" dirty="0"/>
                        <a:t>Vaccination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400" dirty="0"/>
                        <a:t>Denominator contains 319,779 (46.9%) missing values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400" dirty="0" err="1"/>
                        <a:t>NumberDosesReceived</a:t>
                      </a:r>
                      <a:r>
                        <a:rPr lang="en-US" sz="1400" dirty="0"/>
                        <a:t> contains 595,499 (87.4%) missing values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400" dirty="0" err="1"/>
                        <a:t>NumberDosesExported</a:t>
                      </a:r>
                      <a:r>
                        <a:rPr lang="en-US" sz="1400" dirty="0"/>
                        <a:t> contains 590,036 (86.8%) missing values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400" dirty="0" err="1"/>
                        <a:t>FirstDoseRefused</a:t>
                      </a:r>
                      <a:r>
                        <a:rPr lang="en-US" sz="1400" dirty="0"/>
                        <a:t> contains 679,883 (99,78%) missing values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400" dirty="0"/>
                        <a:t>Keep Denominator as </a:t>
                      </a:r>
                      <a:r>
                        <a:rPr lang="en-US" sz="1400" dirty="0" err="1"/>
                        <a:t>NaN</a:t>
                      </a:r>
                      <a:r>
                        <a:rPr lang="en-US" sz="1400" dirty="0"/>
                        <a:t>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400" dirty="0"/>
                        <a:t>Impute missing values with 0 for: </a:t>
                      </a:r>
                      <a:r>
                        <a:rPr lang="en-US" sz="1400" dirty="0" err="1"/>
                        <a:t>NumberDosesReceived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NumberDosesExported</a:t>
                      </a:r>
                      <a:r>
                        <a:rPr lang="en-US" sz="1400" dirty="0"/>
                        <a:t>, and </a:t>
                      </a:r>
                      <a:r>
                        <a:rPr lang="en-US" sz="1400" dirty="0" err="1"/>
                        <a:t>FirstDoseRefused</a:t>
                      </a:r>
                      <a:r>
                        <a:rPr lang="en-US" sz="1400" dirty="0"/>
                        <a:t> column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819069"/>
                  </a:ext>
                </a:extLst>
              </a:tr>
              <a:tr h="498595">
                <a:tc>
                  <a:txBody>
                    <a:bodyPr/>
                    <a:lstStyle/>
                    <a:p>
                      <a:r>
                        <a:rPr lang="en-US" sz="1400" dirty="0"/>
                        <a:t>Hospital and ICU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url</a:t>
                      </a:r>
                      <a:r>
                        <a:rPr lang="en-US" sz="1400" dirty="0"/>
                        <a:t> contain 25,100 </a:t>
                      </a:r>
                    </a:p>
                    <a:p>
                      <a:r>
                        <a:rPr lang="en-US" sz="1400" dirty="0"/>
                        <a:t>(100%) missing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Remove the column </a:t>
                      </a:r>
                      <a:r>
                        <a:rPr lang="en-US" sz="1400" dirty="0" err="1"/>
                        <a:t>url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629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515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99C91-09B9-917E-B794-A687B2196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Why are there negative values</a:t>
            </a:r>
            <a:br>
              <a:rPr lang="en-US" sz="3600" b="1" dirty="0"/>
            </a:br>
            <a:r>
              <a:rPr lang="en-US" sz="3600" b="1" dirty="0"/>
              <a:t> in Cases and Deaths Dataset?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417BE-5F99-2E5E-310E-C63E9809B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Overcounting Corrections after </a:t>
            </a:r>
            <a:r>
              <a:rPr lang="en-US" dirty="0"/>
              <a:t>review their historical records. </a:t>
            </a:r>
          </a:p>
          <a:p>
            <a:pPr marL="363538" indent="-269875">
              <a:buFont typeface="Wingdings" panose="05000000000000000000" pitchFamily="2" charset="2"/>
              <a:buChar char="§"/>
            </a:pPr>
            <a:r>
              <a:rPr lang="en-US" dirty="0"/>
              <a:t>double-counted cases</a:t>
            </a:r>
          </a:p>
          <a:p>
            <a:pPr marL="363538" indent="-269875">
              <a:buFont typeface="Wingdings" panose="05000000000000000000" pitchFamily="2" charset="2"/>
              <a:buChar char="§"/>
            </a:pPr>
            <a:r>
              <a:rPr lang="en-US" dirty="0"/>
              <a:t>misclassified non-COVID deaths as COVID deaths during previous weeks</a:t>
            </a:r>
          </a:p>
          <a:p>
            <a:pPr marL="363538" indent="-269875">
              <a:buFont typeface="Wingdings" panose="05000000000000000000" pitchFamily="2" charset="2"/>
              <a:buChar char="§"/>
            </a:pPr>
            <a:r>
              <a:rPr lang="en-US" dirty="0"/>
              <a:t>simply apply a negative number to the current day to adjust the running cumulative total.</a:t>
            </a:r>
          </a:p>
          <a:p>
            <a:pPr marL="93663" indent="0">
              <a:buNone/>
            </a:pPr>
            <a:r>
              <a:rPr lang="en-US" dirty="0"/>
              <a:t>For example, looking into the dataset, France reported -348,846 cases on May 20, 2021. This was a massive historical data correction made by the French government to clean up duplicated patient files from earlier months.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995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53877-FCBE-CB76-C210-93CEB324D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What is Denominator in Vaccination Dataset?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F7B5A-7E43-2C5D-6E4A-E1833064A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818121" cy="4023360"/>
          </a:xfrm>
        </p:spPr>
        <p:txBody>
          <a:bodyPr>
            <a:normAutofit/>
          </a:bodyPr>
          <a:lstStyle/>
          <a:p>
            <a:r>
              <a:rPr lang="en-US" sz="2400" dirty="0"/>
              <a:t>The Denominator represents the size of the specific target group within that country (e.g., the number of healthcare workers or the population of the Age70_79).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Denominator contains 319,779 (46.9%) missing values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We use population instead of denominator in later analysis</a:t>
            </a:r>
          </a:p>
        </p:txBody>
      </p:sp>
    </p:spTree>
    <p:extLst>
      <p:ext uri="{BB962C8B-B14F-4D97-AF65-F5344CB8AC3E}">
        <p14:creationId xmlns:p14="http://schemas.microsoft.com/office/powerpoint/2010/main" val="3477041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32B08-75B3-2191-0672-F5C6BD256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/>
              <a:t>Cases and Deaths Data: </a:t>
            </a:r>
            <a:br>
              <a:rPr lang="en-US" sz="2800" b="1" dirty="0"/>
            </a:br>
            <a:r>
              <a:rPr lang="en-US" sz="2800" b="1" dirty="0"/>
              <a:t>COVID-19 Cases and Death Analysis </a:t>
            </a:r>
            <a:br>
              <a:rPr lang="en-US" sz="2800" dirty="0"/>
            </a:br>
            <a:r>
              <a:rPr lang="en-US" sz="2800" dirty="0"/>
              <a:t>Q1.1: Top countries with the highest cases by quarter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BB225E-3806-4A5C-9A44-CC81D89433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1948426"/>
            <a:ext cx="7543800" cy="381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26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38B97-EE84-7D5D-A0CD-22D98028F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sz="2400" dirty="0"/>
            </a:br>
            <a:r>
              <a:rPr lang="en-US" sz="2400" b="1" dirty="0"/>
              <a:t>Cases and Deaths Data: </a:t>
            </a:r>
            <a:br>
              <a:rPr lang="en-US" sz="2400" b="1" dirty="0"/>
            </a:br>
            <a:r>
              <a:rPr lang="en-US" sz="2400" b="1" dirty="0"/>
              <a:t>COVID-19 Cases and Death Analysis </a:t>
            </a:r>
            <a:br>
              <a:rPr lang="en-US" sz="2400" dirty="0"/>
            </a:br>
            <a:r>
              <a:rPr lang="en-US" sz="2400" dirty="0"/>
              <a:t>Q1.2: The relation between the high number of cases and the country’s population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F7943F-6202-9E10-96B2-18382C3A96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960" y="1846263"/>
            <a:ext cx="7110520" cy="432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69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2E560-1FC1-B161-4A71-A054E4814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/>
              <a:t>Vaccination Data: </a:t>
            </a:r>
            <a:br>
              <a:rPr lang="en-US" sz="2800" b="1" dirty="0"/>
            </a:br>
            <a:r>
              <a:rPr lang="en-US" sz="2800" b="1" dirty="0"/>
              <a:t>Vaccination Brand and Distribution Analysis</a:t>
            </a:r>
            <a:br>
              <a:rPr lang="en-US" sz="2800" dirty="0"/>
            </a:br>
            <a:r>
              <a:rPr lang="en-US" sz="2400" dirty="0"/>
              <a:t>Q3: The top 3 popular vaccine brands used across the EU/EEA and at the country level.</a:t>
            </a:r>
            <a:endParaRPr lang="en-US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B9E984-451F-52F4-A959-7E747CE4C8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897"/>
          <a:stretch>
            <a:fillRect/>
          </a:stretch>
        </p:blipFill>
        <p:spPr>
          <a:xfrm>
            <a:off x="684852" y="1828800"/>
            <a:ext cx="4956995" cy="444398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69A8D3B-8069-C07F-7BFC-03B5DC8B9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637339"/>
              </p:ext>
            </p:extLst>
          </p:nvPr>
        </p:nvGraphicFramePr>
        <p:xfrm>
          <a:off x="5861382" y="4125595"/>
          <a:ext cx="2160270" cy="11548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0385">
                  <a:extLst>
                    <a:ext uri="{9D8B030D-6E8A-4147-A177-3AD203B41FA5}">
                      <a16:colId xmlns:a16="http://schemas.microsoft.com/office/drawing/2014/main" val="1771097925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35611674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</a:rPr>
                        <a:t>Code</a:t>
                      </a:r>
                      <a:endParaRPr lang="en-US" sz="10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</a:rPr>
                        <a:t>Vaccine Brand</a:t>
                      </a:r>
                      <a:endParaRPr lang="en-US" sz="10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3881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</a:rPr>
                        <a:t>COM</a:t>
                      </a:r>
                      <a:endParaRPr lang="en-US" sz="10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</a:rPr>
                        <a:t>Comirnaty/ Pfizer-BioNTech</a:t>
                      </a:r>
                      <a:endParaRPr lang="en-US" sz="10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0125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</a:rPr>
                        <a:t>MOD</a:t>
                      </a:r>
                      <a:endParaRPr lang="en-US" sz="10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</a:rPr>
                        <a:t>Moderna/ Spikevax</a:t>
                      </a:r>
                      <a:endParaRPr lang="en-US" sz="10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1553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</a:rPr>
                        <a:t>AZ</a:t>
                      </a:r>
                      <a:endParaRPr lang="en-US" sz="10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</a:rPr>
                        <a:t>AstraZeneca/ </a:t>
                      </a:r>
                      <a:r>
                        <a:rPr lang="en-US" sz="1000" kern="100" dirty="0" err="1">
                          <a:effectLst/>
                          <a:latin typeface="+mn-lt"/>
                        </a:rPr>
                        <a:t>Vaxzevria</a:t>
                      </a:r>
                      <a:endParaRPr lang="en-US" sz="10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6490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</a:rPr>
                        <a:t>JANSS</a:t>
                      </a:r>
                      <a:endParaRPr lang="en-US" sz="10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</a:rPr>
                        <a:t>Janssen</a:t>
                      </a:r>
                      <a:endParaRPr lang="en-US" sz="10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6760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</a:rPr>
                        <a:t>NVXD</a:t>
                      </a:r>
                      <a:endParaRPr lang="en-US" sz="10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</a:rPr>
                        <a:t>Novavax</a:t>
                      </a:r>
                      <a:endParaRPr lang="en-US" sz="10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9363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+mn-lt"/>
                        </a:rPr>
                        <a:t>UNK</a:t>
                      </a:r>
                      <a:endParaRPr lang="en-US" sz="10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+mn-lt"/>
                        </a:rPr>
                        <a:t>Unknown vaccine brand</a:t>
                      </a:r>
                      <a:endParaRPr lang="en-US" sz="10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5127820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335BD0F-406C-EA6C-663A-FF358429F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7" y="1911922"/>
            <a:ext cx="3231963" cy="203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84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1ED1D-AF9A-5844-2C20-89A29F00D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/>
              <a:t>Vaccination Data: </a:t>
            </a:r>
            <a:br>
              <a:rPr lang="en-US" sz="2800" b="1" dirty="0"/>
            </a:br>
            <a:r>
              <a:rPr lang="en-US" sz="2800" b="1" dirty="0"/>
              <a:t>Vaccination Brand and Distribution Analysis</a:t>
            </a:r>
            <a:br>
              <a:rPr lang="en-US" sz="2800" dirty="0"/>
            </a:br>
            <a:r>
              <a:rPr lang="en-US" sz="2800" dirty="0"/>
              <a:t>Q4: Target groups received the popular vaccine brands in each country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F16128-EDF0-04FD-9BA3-404117BD06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959" y="1960563"/>
            <a:ext cx="5809997" cy="440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073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D030-A46C-F9C7-22CC-C17855BE8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077" y="286604"/>
            <a:ext cx="8241323" cy="1450757"/>
          </a:xfrm>
        </p:spPr>
        <p:txBody>
          <a:bodyPr>
            <a:noAutofit/>
          </a:bodyPr>
          <a:lstStyle/>
          <a:p>
            <a:r>
              <a:rPr lang="en-US" sz="2800" b="1" dirty="0"/>
              <a:t>Hospital and ICU Data: Healthcare System Impact</a:t>
            </a:r>
            <a:br>
              <a:rPr lang="en-US" sz="2800" b="1" dirty="0"/>
            </a:br>
            <a:r>
              <a:rPr lang="en-US" sz="2800" dirty="0"/>
              <a:t>Q8: The most affected countries’ health care </a:t>
            </a:r>
            <a:br>
              <a:rPr lang="en-US" sz="2800" b="1" dirty="0"/>
            </a:br>
            <a:r>
              <a:rPr lang="en-US" sz="2800" dirty="0"/>
              <a:t>by the coronavirus pandemic in 2020.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FED1A3-3D1F-5CF6-46D7-F3BB95E585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216" y="1846263"/>
            <a:ext cx="7690943" cy="430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464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</a:t>
            </a:r>
            <a:r>
              <a:rPr dirty="0"/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dirty="0"/>
              <a:t>Did higher first-dose vaccination rates relate to lower death rates?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Did higher booster uptake reduce ICU pressure?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Did higher case rates increase healthcare burden?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dirty="0"/>
              <a:t>Pearson correlation: -0.389</a:t>
            </a:r>
            <a:br>
              <a:rPr lang="en-US" sz="1800" dirty="0"/>
            </a:br>
            <a:r>
              <a:rPr lang="en-US" sz="1800" dirty="0"/>
              <a:t>Weak-to-moderate negative relationship</a:t>
            </a:r>
            <a:br>
              <a:rPr lang="en-US" sz="2000" dirty="0"/>
            </a:br>
            <a:r>
              <a:rPr lang="en-US" sz="2400" b="1" dirty="0"/>
              <a:t>Higher first-dose vaccination rates were associated with lower death rates.</a:t>
            </a:r>
            <a:endParaRPr lang="en-US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41AA40-FC5C-8857-4595-97C7B27F8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099" y="1845734"/>
            <a:ext cx="6593216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Additional-dose uptake did not show a strong relationship with ICU pressure.</a:t>
            </a:r>
          </a:p>
          <a:p>
            <a:r>
              <a:t>Some countries with high booster uptake still had high ICU burden.</a:t>
            </a:r>
          </a:p>
          <a:p>
            <a:r>
              <a:t>Healthcare burden was influenced by multiple factors.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COVID-19 case rates were only weakly associated with ICU pressure.</a:t>
            </a:r>
          </a:p>
          <a:p>
            <a:r>
              <a:t>Pearson correlation: 0.200</a:t>
            </a:r>
          </a:p>
          <a:p>
            <a:r>
              <a:t>Healthcare burden depended on more than infection rates alone.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COVID-19 outcomes were influenced by vaccination, healthcare capacity, demographics, and virus variants.</a:t>
            </a:r>
          </a:p>
          <a:p>
            <a:r>
              <a:t>Vaccination likely reduced severe outcomes.</a:t>
            </a:r>
          </a:p>
          <a:p>
            <a:r>
              <a:t>Country-level differences remained significant.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COVID-19 impacts across EU/EEA countries were complex and multifactorial.</a:t>
            </a:r>
          </a:p>
          <a:p>
            <a:r>
              <a:t>Vaccination programs likely helped reduce mortality and severe disease.</a:t>
            </a:r>
          </a:p>
          <a:p>
            <a:r>
              <a:t>Data analysis provided useful public health insights.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C761D-2B40-F92E-E0AE-36403994E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A3311-3E1C-FF71-133E-C6508C788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3600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316167711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95</TotalTime>
  <Words>693</Words>
  <Application>Microsoft Office PowerPoint</Application>
  <PresentationFormat>On-screen Show (4:3)</PresentationFormat>
  <Paragraphs>96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Wingdings</vt:lpstr>
      <vt:lpstr>Retrospect</vt:lpstr>
      <vt:lpstr>COVID-19 Analysis in EU/EEA Countries</vt:lpstr>
      <vt:lpstr>Introduction</vt:lpstr>
      <vt:lpstr>Datasets Used</vt:lpstr>
      <vt:lpstr>Data Preprocessing</vt:lpstr>
      <vt:lpstr>Handled missing and negative values</vt:lpstr>
      <vt:lpstr>Why are there negative values  in Cases and Deaths Dataset?</vt:lpstr>
      <vt:lpstr>What is Denominator in Vaccination Dataset?</vt:lpstr>
      <vt:lpstr>Cases and Deaths Data:  COVID-19 Cases and Death Analysis  Q1.1: Top countries with the highest cases by quarter</vt:lpstr>
      <vt:lpstr> Cases and Deaths Data:  COVID-19 Cases and Death Analysis  Q1.2: The relation between the high number of cases and the country’s population</vt:lpstr>
      <vt:lpstr>Vaccination Data:  Vaccination Brand and Distribution Analysis Q3: The top 3 popular vaccine brands used across the EU/EEA and at the country level.</vt:lpstr>
      <vt:lpstr>Vaccination Data:  Vaccination Brand and Distribution Analysis Q4: Target groups received the popular vaccine brands in each country</vt:lpstr>
      <vt:lpstr>Hospital and ICU Data: Healthcare System Impact Q8: The most affected countries’ health care  by the coronavirus pandemic in 2020.</vt:lpstr>
      <vt:lpstr>Additional Research Questions</vt:lpstr>
      <vt:lpstr>Pearson correlation: -0.389 Weak-to-moderate negative relationship Higher first-dose vaccination rates were associated with lower death rates.</vt:lpstr>
      <vt:lpstr>Key Finding 2</vt:lpstr>
      <vt:lpstr>Key Finding 3</vt:lpstr>
      <vt:lpstr>Discussion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Mario Simaremare</dc:creator>
  <cp:keywords/>
  <dc:description>generated using python-pptx</dc:description>
  <cp:lastModifiedBy>Mario Simaremare</cp:lastModifiedBy>
  <cp:revision>11</cp:revision>
  <dcterms:created xsi:type="dcterms:W3CDTF">2013-01-27T09:14:16Z</dcterms:created>
  <dcterms:modified xsi:type="dcterms:W3CDTF">2026-05-29T08:43:14Z</dcterms:modified>
  <cp:category/>
</cp:coreProperties>
</file>